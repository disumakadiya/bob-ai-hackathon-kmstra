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725227" y="-81397"/>
            <a:ext cx="11539226" cy="11524802"/>
          </a:xfrm>
          <a:custGeom>
            <a:avLst/>
            <a:gdLst/>
            <a:ahLst/>
            <a:cxnLst/>
            <a:rect r="r" b="b" t="t" l="l"/>
            <a:pathLst>
              <a:path h="11524802" w="11539226">
                <a:moveTo>
                  <a:pt x="0" y="0"/>
                </a:moveTo>
                <a:lnTo>
                  <a:pt x="11539226" y="0"/>
                </a:lnTo>
                <a:lnTo>
                  <a:pt x="11539226" y="11524802"/>
                </a:lnTo>
                <a:lnTo>
                  <a:pt x="0" y="11524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252992" y="2077365"/>
            <a:ext cx="1792624" cy="1377371"/>
          </a:xfrm>
          <a:custGeom>
            <a:avLst/>
            <a:gdLst/>
            <a:ahLst/>
            <a:cxnLst/>
            <a:rect r="r" b="b" t="t" l="l"/>
            <a:pathLst>
              <a:path h="1377371" w="1792624">
                <a:moveTo>
                  <a:pt x="0" y="0"/>
                </a:moveTo>
                <a:lnTo>
                  <a:pt x="1792624" y="0"/>
                </a:lnTo>
                <a:lnTo>
                  <a:pt x="1792624" y="1377370"/>
                </a:lnTo>
                <a:lnTo>
                  <a:pt x="0" y="1377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442337" y="3964314"/>
            <a:ext cx="11403325" cy="1951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94"/>
              </a:lnSpc>
              <a:spcBef>
                <a:spcPct val="0"/>
              </a:spcBef>
            </a:pPr>
            <a:r>
              <a:rPr lang="en-US" b="true" sz="5567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Mission Readiness &amp; Predictive Maintenance Copilot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0941" y="6813846"/>
            <a:ext cx="9537591" cy="91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From sensor data to mission decision — in one pipeline.</a:t>
            </a:r>
          </a:p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Team KMstra  |  Track: AI  |  IBM Bob AI Hackathon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11039" y="3437462"/>
            <a:ext cx="4665923" cy="50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7"/>
              </a:lnSpc>
              <a:spcBef>
                <a:spcPct val="0"/>
              </a:spcBef>
            </a:pPr>
            <a:r>
              <a:rPr lang="en-US" b="true" sz="2884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AstraPulse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481096" y="3974661"/>
            <a:ext cx="3948976" cy="129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3"/>
              </a:lnSpc>
            </a:pPr>
            <a:r>
              <a:rPr lang="en-US" b="true" sz="3723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</a:p>
          <a:p>
            <a:pPr algn="ctr" marL="0" indent="0" lvl="0">
              <a:lnSpc>
                <a:spcPts val="5213"/>
              </a:lnSpc>
            </a:pPr>
            <a:r>
              <a:rPr lang="en-US" b="true" sz="3723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28563" y="1414286"/>
            <a:ext cx="5561027" cy="3729214"/>
            <a:chOff x="0" y="0"/>
            <a:chExt cx="1138261" cy="763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8261" cy="763316"/>
            </a:xfrm>
            <a:custGeom>
              <a:avLst/>
              <a:gdLst/>
              <a:ahLst/>
              <a:cxnLst/>
              <a:rect r="r" b="b" t="t" l="l"/>
              <a:pathLst>
                <a:path h="763316" w="1138261">
                  <a:moveTo>
                    <a:pt x="69609" y="0"/>
                  </a:moveTo>
                  <a:lnTo>
                    <a:pt x="1068652" y="0"/>
                  </a:lnTo>
                  <a:cubicBezTo>
                    <a:pt x="1107096" y="0"/>
                    <a:pt x="1138261" y="31165"/>
                    <a:pt x="1138261" y="69609"/>
                  </a:cubicBezTo>
                  <a:lnTo>
                    <a:pt x="1138261" y="693707"/>
                  </a:lnTo>
                  <a:cubicBezTo>
                    <a:pt x="1138261" y="732151"/>
                    <a:pt x="1107096" y="763316"/>
                    <a:pt x="1068652" y="763316"/>
                  </a:cubicBezTo>
                  <a:lnTo>
                    <a:pt x="69609" y="763316"/>
                  </a:lnTo>
                  <a:cubicBezTo>
                    <a:pt x="51147" y="763316"/>
                    <a:pt x="33442" y="755982"/>
                    <a:pt x="20388" y="742928"/>
                  </a:cubicBezTo>
                  <a:cubicBezTo>
                    <a:pt x="7334" y="729874"/>
                    <a:pt x="0" y="712168"/>
                    <a:pt x="0" y="693707"/>
                  </a:cubicBezTo>
                  <a:lnTo>
                    <a:pt x="0" y="69609"/>
                  </a:lnTo>
                  <a:cubicBezTo>
                    <a:pt x="0" y="31165"/>
                    <a:pt x="31165" y="0"/>
                    <a:pt x="69609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38261" cy="80141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427347" y="2556692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442468" y="2467039"/>
            <a:ext cx="1011607" cy="101160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28563" y="5443836"/>
            <a:ext cx="5640055" cy="3755105"/>
            <a:chOff x="0" y="0"/>
            <a:chExt cx="1154437" cy="7686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4437" cy="768615"/>
            </a:xfrm>
            <a:custGeom>
              <a:avLst/>
              <a:gdLst/>
              <a:ahLst/>
              <a:cxnLst/>
              <a:rect r="r" b="b" t="t" l="l"/>
              <a:pathLst>
                <a:path h="768615" w="1154437">
                  <a:moveTo>
                    <a:pt x="68633" y="0"/>
                  </a:moveTo>
                  <a:lnTo>
                    <a:pt x="1085803" y="0"/>
                  </a:lnTo>
                  <a:cubicBezTo>
                    <a:pt x="1123709" y="0"/>
                    <a:pt x="1154437" y="30728"/>
                    <a:pt x="1154437" y="68633"/>
                  </a:cubicBezTo>
                  <a:lnTo>
                    <a:pt x="1154437" y="699982"/>
                  </a:lnTo>
                  <a:cubicBezTo>
                    <a:pt x="1154437" y="718184"/>
                    <a:pt x="1147206" y="735642"/>
                    <a:pt x="1134335" y="748513"/>
                  </a:cubicBezTo>
                  <a:cubicBezTo>
                    <a:pt x="1121463" y="761384"/>
                    <a:pt x="1104006" y="768615"/>
                    <a:pt x="1085803" y="768615"/>
                  </a:cubicBezTo>
                  <a:lnTo>
                    <a:pt x="68633" y="768615"/>
                  </a:lnTo>
                  <a:cubicBezTo>
                    <a:pt x="30728" y="768615"/>
                    <a:pt x="0" y="737887"/>
                    <a:pt x="0" y="699982"/>
                  </a:cubicBezTo>
                  <a:lnTo>
                    <a:pt x="0" y="68633"/>
                  </a:lnTo>
                  <a:cubicBezTo>
                    <a:pt x="0" y="30728"/>
                    <a:pt x="30728" y="0"/>
                    <a:pt x="6863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54437" cy="80671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427347" y="597728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2403409" y="5936250"/>
            <a:ext cx="1011607" cy="101160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55434" y="5443836"/>
            <a:ext cx="5139841" cy="3755105"/>
            <a:chOff x="0" y="0"/>
            <a:chExt cx="1052050" cy="76861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2050" cy="768615"/>
            </a:xfrm>
            <a:custGeom>
              <a:avLst/>
              <a:gdLst/>
              <a:ahLst/>
              <a:cxnLst/>
              <a:rect r="r" b="b" t="t" l="l"/>
              <a:pathLst>
                <a:path h="768615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693302"/>
                  </a:lnTo>
                  <a:cubicBezTo>
                    <a:pt x="1052050" y="734896"/>
                    <a:pt x="1018332" y="768615"/>
                    <a:pt x="976737" y="768615"/>
                  </a:cubicBezTo>
                  <a:lnTo>
                    <a:pt x="75313" y="768615"/>
                  </a:lnTo>
                  <a:cubicBezTo>
                    <a:pt x="33719" y="768615"/>
                    <a:pt x="0" y="734896"/>
                    <a:pt x="0" y="693302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52050" cy="80671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188991" y="597728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8165054" y="5936250"/>
            <a:ext cx="1011607" cy="101160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2704873" y="2778039"/>
            <a:ext cx="410838" cy="389608"/>
          </a:xfrm>
          <a:custGeom>
            <a:avLst/>
            <a:gdLst/>
            <a:ahLst/>
            <a:cxnLst/>
            <a:rect r="r" b="b" t="t" l="l"/>
            <a:pathLst>
              <a:path h="389608" w="410838">
                <a:moveTo>
                  <a:pt x="0" y="0"/>
                </a:moveTo>
                <a:lnTo>
                  <a:pt x="410839" y="0"/>
                </a:lnTo>
                <a:lnTo>
                  <a:pt x="410839" y="389608"/>
                </a:lnTo>
                <a:lnTo>
                  <a:pt x="0" y="38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420842" y="6223095"/>
            <a:ext cx="479612" cy="485805"/>
          </a:xfrm>
          <a:custGeom>
            <a:avLst/>
            <a:gdLst/>
            <a:ahLst/>
            <a:cxnLst/>
            <a:rect r="r" b="b" t="t" l="l"/>
            <a:pathLst>
              <a:path h="485805" w="479612">
                <a:moveTo>
                  <a:pt x="0" y="0"/>
                </a:moveTo>
                <a:lnTo>
                  <a:pt x="479611" y="0"/>
                </a:lnTo>
                <a:lnTo>
                  <a:pt x="479611" y="485805"/>
                </a:lnTo>
                <a:lnTo>
                  <a:pt x="0" y="485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629035" y="6276779"/>
            <a:ext cx="559577" cy="364424"/>
          </a:xfrm>
          <a:custGeom>
            <a:avLst/>
            <a:gdLst/>
            <a:ahLst/>
            <a:cxnLst/>
            <a:rect r="r" b="b" t="t" l="l"/>
            <a:pathLst>
              <a:path h="364424" w="559577">
                <a:moveTo>
                  <a:pt x="0" y="0"/>
                </a:moveTo>
                <a:lnTo>
                  <a:pt x="559577" y="0"/>
                </a:lnTo>
                <a:lnTo>
                  <a:pt x="559577" y="364425"/>
                </a:lnTo>
                <a:lnTo>
                  <a:pt x="0" y="36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400905" y="2075682"/>
            <a:ext cx="2212553" cy="2167583"/>
          </a:xfrm>
          <a:custGeom>
            <a:avLst/>
            <a:gdLst/>
            <a:ahLst/>
            <a:cxnLst/>
            <a:rect r="r" b="b" t="t" l="l"/>
            <a:pathLst>
              <a:path h="2167583" w="2212553">
                <a:moveTo>
                  <a:pt x="0" y="0"/>
                </a:moveTo>
                <a:lnTo>
                  <a:pt x="2212554" y="0"/>
                </a:lnTo>
                <a:lnTo>
                  <a:pt x="2212554" y="2167583"/>
                </a:lnTo>
                <a:lnTo>
                  <a:pt x="0" y="2167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7674380" y="8720213"/>
            <a:ext cx="44274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690974" y="1716807"/>
            <a:ext cx="3107222" cy="38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Disconnected Signals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90974" y="2255127"/>
            <a:ext cx="3625405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Sensor &amp; HUMS data contains early degradation signals but remains siloed — disconnected from failure risk, RUL estimates, and mission requirements.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690974" y="5596994"/>
            <a:ext cx="2746956" cy="38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Reactive Decisions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90974" y="6131764"/>
            <a:ext cx="3538411" cy="26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Manual, reactive maintenance creates compounding risks: safety incidents, unplanned downtime, and escalating operational costs across mission-critical fleets.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15720" y="5716490"/>
            <a:ext cx="2916032" cy="38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4"/>
              </a:lnSpc>
              <a:spcBef>
                <a:spcPct val="0"/>
              </a:spcBef>
            </a:pPr>
            <a:r>
              <a:rPr lang="en-US" b="true" sz="21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 Readiness Score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61128" y="6254223"/>
            <a:ext cx="3625405" cy="260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Without a unified readiness signal, operators cannot assess true mission readiness — every decision is a guess under pressure with incomplete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20213"/>
            <a:ext cx="44274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01628" y="3633841"/>
            <a:ext cx="5139841" cy="2819922"/>
            <a:chOff x="0" y="0"/>
            <a:chExt cx="1052050" cy="5771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00412" y="4167291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76474" y="4126254"/>
            <a:ext cx="1011607" cy="101160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49565" y="3767379"/>
            <a:ext cx="2063297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IsolationForest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49565" y="4219967"/>
            <a:ext cx="3419715" cy="212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Detects anomalies and scores asset health from raw sensor streams. Flags early degradation signals before failure thresholds are reached.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44985" y="4420677"/>
            <a:ext cx="838095" cy="383428"/>
          </a:xfrm>
          <a:custGeom>
            <a:avLst/>
            <a:gdLst/>
            <a:ahLst/>
            <a:cxnLst/>
            <a:rect r="r" b="b" t="t" l="l"/>
            <a:pathLst>
              <a:path h="383428" w="838095">
                <a:moveTo>
                  <a:pt x="0" y="0"/>
                </a:moveTo>
                <a:lnTo>
                  <a:pt x="838094" y="0"/>
                </a:lnTo>
                <a:lnTo>
                  <a:pt x="838094" y="383428"/>
                </a:lnTo>
                <a:lnTo>
                  <a:pt x="0" y="383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574080" y="3633841"/>
            <a:ext cx="5139841" cy="2819922"/>
            <a:chOff x="0" y="0"/>
            <a:chExt cx="1052050" cy="577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7172864" y="4167291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148926" y="4126254"/>
            <a:ext cx="1011607" cy="101160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272845" y="3767379"/>
            <a:ext cx="2063297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72845" y="4110141"/>
            <a:ext cx="3568886" cy="212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Predicts failure risk probability using engineered features. Classifies assets as Low, Medium, or High risk based on sensor patterns.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146531" y="3633841"/>
            <a:ext cx="5139841" cy="2819922"/>
            <a:chOff x="0" y="0"/>
            <a:chExt cx="1052050" cy="5771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2745315" y="4167291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721377" y="4126254"/>
            <a:ext cx="1011607" cy="1011607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029218" y="3808416"/>
            <a:ext cx="2063297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RandomForest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991118" y="4219967"/>
            <a:ext cx="3407920" cy="212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Estimates Remaining Useful Life (RUL) in cycles. Provides time-to-failure horizon to inform scheduling and mission planning.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96242" y="7185794"/>
            <a:ext cx="4950613" cy="1272624"/>
            <a:chOff x="0" y="0"/>
            <a:chExt cx="1013318" cy="260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269284" y="7342158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245346" y="7301121"/>
            <a:ext cx="1011607" cy="1011607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2597866" y="7614345"/>
            <a:ext cx="3448990" cy="34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Mission Readiness Score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0626" y="7593359"/>
            <a:ext cx="741046" cy="31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4"/>
              </a:lnSpc>
              <a:spcBef>
                <a:spcPct val="0"/>
              </a:spcBef>
            </a:pPr>
            <a:r>
              <a:rPr lang="en-US" b="true" sz="178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0–100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68693" y="7185794"/>
            <a:ext cx="4950613" cy="1272624"/>
            <a:chOff x="0" y="0"/>
            <a:chExt cx="1013318" cy="2604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6841735" y="7342158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6817797" y="7301121"/>
            <a:ext cx="1011607" cy="1011607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8170317" y="7614345"/>
            <a:ext cx="3448990" cy="349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Maintenance Priority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953078" y="7593359"/>
            <a:ext cx="741046" cy="316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4"/>
              </a:lnSpc>
              <a:spcBef>
                <a:spcPct val="0"/>
              </a:spcBef>
            </a:pPr>
            <a:r>
              <a:rPr lang="en-US" b="true" sz="178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4-Tier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241145" y="7185794"/>
            <a:ext cx="4950613" cy="1272624"/>
            <a:chOff x="0" y="0"/>
            <a:chExt cx="1013318" cy="2604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2414187" y="7342158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2390249" y="7301121"/>
            <a:ext cx="1011607" cy="1011607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3772043" y="7479909"/>
            <a:ext cx="3448990" cy="69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Asset Status: READY / ADVISORY / NOT READY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525529" y="7593359"/>
            <a:ext cx="741046" cy="63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4"/>
              </a:lnSpc>
              <a:spcBef>
                <a:spcPct val="0"/>
              </a:spcBef>
            </a:pPr>
            <a:r>
              <a:rPr lang="en-US" b="true" sz="178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3-Way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346047" y="1372459"/>
            <a:ext cx="7595905" cy="650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3"/>
              </a:lnSpc>
              <a:spcBef>
                <a:spcPct val="0"/>
              </a:spcBef>
            </a:pPr>
            <a:r>
              <a:rPr lang="en-US" b="true" sz="3723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Solution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7437486" y="4389363"/>
            <a:ext cx="462230" cy="399366"/>
          </a:xfrm>
          <a:custGeom>
            <a:avLst/>
            <a:gdLst/>
            <a:ahLst/>
            <a:cxnLst/>
            <a:rect r="r" b="b" t="t" l="l"/>
            <a:pathLst>
              <a:path h="399366" w="462230">
                <a:moveTo>
                  <a:pt x="0" y="0"/>
                </a:moveTo>
                <a:lnTo>
                  <a:pt x="462230" y="0"/>
                </a:lnTo>
                <a:lnTo>
                  <a:pt x="462230" y="399366"/>
                </a:lnTo>
                <a:lnTo>
                  <a:pt x="0" y="399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015134" y="4428407"/>
            <a:ext cx="427586" cy="411164"/>
          </a:xfrm>
          <a:custGeom>
            <a:avLst/>
            <a:gdLst/>
            <a:ahLst/>
            <a:cxnLst/>
            <a:rect r="r" b="b" t="t" l="l"/>
            <a:pathLst>
              <a:path h="411164" w="427586">
                <a:moveTo>
                  <a:pt x="0" y="0"/>
                </a:moveTo>
                <a:lnTo>
                  <a:pt x="427586" y="0"/>
                </a:lnTo>
                <a:lnTo>
                  <a:pt x="427586" y="411164"/>
                </a:lnTo>
                <a:lnTo>
                  <a:pt x="0" y="411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  <a:spcBef>
                <a:spcPct val="0"/>
              </a:spcBef>
            </a:pPr>
            <a:r>
              <a:rPr lang="en-US" b="true" sz="14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80859" y="2523251"/>
            <a:ext cx="7738483" cy="4739598"/>
            <a:chOff x="0" y="0"/>
            <a:chExt cx="796990" cy="4881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6990" cy="488134"/>
            </a:xfrm>
            <a:custGeom>
              <a:avLst/>
              <a:gdLst/>
              <a:ahLst/>
              <a:cxnLst/>
              <a:rect r="r" b="b" t="t" l="l"/>
              <a:pathLst>
                <a:path h="488134" w="796990">
                  <a:moveTo>
                    <a:pt x="50022" y="0"/>
                  </a:moveTo>
                  <a:lnTo>
                    <a:pt x="746968" y="0"/>
                  </a:lnTo>
                  <a:cubicBezTo>
                    <a:pt x="760235" y="0"/>
                    <a:pt x="772958" y="5270"/>
                    <a:pt x="782339" y="14651"/>
                  </a:cubicBezTo>
                  <a:cubicBezTo>
                    <a:pt x="791720" y="24032"/>
                    <a:pt x="796990" y="36755"/>
                    <a:pt x="796990" y="50022"/>
                  </a:cubicBezTo>
                  <a:lnTo>
                    <a:pt x="796990" y="438111"/>
                  </a:lnTo>
                  <a:cubicBezTo>
                    <a:pt x="796990" y="451378"/>
                    <a:pt x="791720" y="464101"/>
                    <a:pt x="782339" y="473482"/>
                  </a:cubicBezTo>
                  <a:cubicBezTo>
                    <a:pt x="772958" y="482863"/>
                    <a:pt x="760235" y="488134"/>
                    <a:pt x="746968" y="488134"/>
                  </a:cubicBezTo>
                  <a:lnTo>
                    <a:pt x="50022" y="488134"/>
                  </a:lnTo>
                  <a:cubicBezTo>
                    <a:pt x="36755" y="488134"/>
                    <a:pt x="24032" y="482863"/>
                    <a:pt x="14651" y="473482"/>
                  </a:cubicBezTo>
                  <a:cubicBezTo>
                    <a:pt x="5270" y="464101"/>
                    <a:pt x="0" y="451378"/>
                    <a:pt x="0" y="438111"/>
                  </a:cubicBezTo>
                  <a:lnTo>
                    <a:pt x="0" y="50022"/>
                  </a:lnTo>
                  <a:cubicBezTo>
                    <a:pt x="0" y="36755"/>
                    <a:pt x="5270" y="24032"/>
                    <a:pt x="14651" y="14651"/>
                  </a:cubicBezTo>
                  <a:cubicBezTo>
                    <a:pt x="24032" y="5270"/>
                    <a:pt x="36755" y="0"/>
                    <a:pt x="50022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96990" cy="52623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409324" y="2618914"/>
            <a:ext cx="6985746" cy="454827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414934" y="441809"/>
            <a:ext cx="5784043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</a:t>
            </a:r>
          </a:p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4194" y="3042072"/>
            <a:ext cx="8349806" cy="482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3" indent="-269871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NASA C-MAPSS FD001 raw sensor data → Preprocessing (17 features + RUL labels) → Feature Engineering (85 features) → Train 3 ML Models (IsolationForest, XGBoost, RandomForest) → Readiness Engine → asset_readiness.csv</a:t>
            </a:r>
          </a:p>
          <a:p>
            <a:pPr algn="l">
              <a:lnSpc>
                <a:spcPts val="3499"/>
              </a:lnSpc>
            </a:pPr>
          </a:p>
          <a:p>
            <a:pPr algn="l" marL="539743" indent="-269871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Runtime: FastAPI backend → React Mission Intelligence UI. IBM Bob connects via MCP with 5 operator tools for fleet readiness, asset status, time series, maintenance priorities, and mission readiness decisions.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4934" y="2466101"/>
            <a:ext cx="3842011" cy="39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298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Pipeline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645447" y="9258300"/>
            <a:ext cx="1661508" cy="643394"/>
            <a:chOff x="0" y="0"/>
            <a:chExt cx="2098984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8984" cy="812800"/>
            </a:xfrm>
            <a:custGeom>
              <a:avLst/>
              <a:gdLst/>
              <a:ahLst/>
              <a:cxnLst/>
              <a:rect r="r" b="b" t="t" l="l"/>
              <a:pathLst>
                <a:path h="812800" w="2098984">
                  <a:moveTo>
                    <a:pt x="406400" y="0"/>
                  </a:moveTo>
                  <a:lnTo>
                    <a:pt x="1692584" y="0"/>
                  </a:lnTo>
                  <a:cubicBezTo>
                    <a:pt x="1800368" y="0"/>
                    <a:pt x="1903737" y="42817"/>
                    <a:pt x="1979952" y="119032"/>
                  </a:cubicBezTo>
                  <a:cubicBezTo>
                    <a:pt x="2056167" y="195247"/>
                    <a:pt x="2098984" y="298616"/>
                    <a:pt x="2098984" y="406400"/>
                  </a:cubicBezTo>
                  <a:lnTo>
                    <a:pt x="2098984" y="406400"/>
                  </a:lnTo>
                  <a:cubicBezTo>
                    <a:pt x="2098984" y="630849"/>
                    <a:pt x="1917032" y="812800"/>
                    <a:pt x="1692584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45447" y="9450744"/>
            <a:ext cx="1661508" cy="22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06"/>
              </a:lnSpc>
              <a:spcBef>
                <a:spcPct val="0"/>
              </a:spcBef>
            </a:pPr>
            <a:r>
              <a:rPr lang="en-US" b="true" sz="1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View Demo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02224" y="-6441776"/>
            <a:ext cx="12883553" cy="128835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949019" y="-5010643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690946" y="-5453054"/>
            <a:ext cx="10906108" cy="1090610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7674380" y="8710688"/>
            <a:ext cx="442747" cy="24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3"/>
              </a:lnSpc>
              <a:spcBef>
                <a:spcPct val="0"/>
              </a:spcBef>
            </a:pPr>
            <a:r>
              <a:rPr lang="en-US" b="true" sz="134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31310" y="1509379"/>
            <a:ext cx="4582611" cy="1618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80"/>
              </a:lnSpc>
            </a:pPr>
            <a:r>
              <a:rPr lang="en-US" b="true" sz="4557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Live Demo</a:t>
            </a:r>
          </a:p>
          <a:p>
            <a:pPr algn="ctr" marL="0" indent="0" lvl="0">
              <a:lnSpc>
                <a:spcPts val="6380"/>
              </a:lnSpc>
            </a:pPr>
            <a:r>
              <a:rPr lang="en-US" b="true" sz="4557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Walkthrough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1628" y="5648297"/>
            <a:ext cx="5139841" cy="2819922"/>
            <a:chOff x="0" y="0"/>
            <a:chExt cx="1052050" cy="577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600412" y="618174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576474" y="6140710"/>
            <a:ext cx="1011607" cy="101160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024244" y="5907199"/>
            <a:ext cx="2063297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3"/>
              </a:lnSpc>
              <a:spcBef>
                <a:spcPct val="0"/>
              </a:spcBef>
            </a:pPr>
            <a:r>
              <a:rPr lang="en-US" b="true" sz="2238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Upload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24244" y="6454751"/>
            <a:ext cx="3111686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Upload multi-cycle CSV from an unseen engine. System validates, cleans data, and engineers 85 features automatically.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6574080" y="6409107"/>
            <a:ext cx="5139841" cy="2819922"/>
            <a:chOff x="0" y="0"/>
            <a:chExt cx="1052050" cy="5771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7172864" y="694255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7148926" y="6901520"/>
            <a:ext cx="1011607" cy="101160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7465597" y="7244590"/>
            <a:ext cx="381359" cy="329861"/>
          </a:xfrm>
          <a:custGeom>
            <a:avLst/>
            <a:gdLst/>
            <a:ahLst/>
            <a:cxnLst/>
            <a:rect r="r" b="b" t="t" l="l"/>
            <a:pathLst>
              <a:path h="329861" w="381359">
                <a:moveTo>
                  <a:pt x="0" y="0"/>
                </a:moveTo>
                <a:lnTo>
                  <a:pt x="381358" y="0"/>
                </a:lnTo>
                <a:lnTo>
                  <a:pt x="381358" y="329862"/>
                </a:lnTo>
                <a:lnTo>
                  <a:pt x="0" y="329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358848" y="6627794"/>
            <a:ext cx="2063297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3"/>
              </a:lnSpc>
              <a:spcBef>
                <a:spcPct val="0"/>
              </a:spcBef>
            </a:pPr>
            <a:r>
              <a:rPr lang="en-US" b="true" sz="22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Assess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358848" y="7182594"/>
            <a:ext cx="3275790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 /api/assess runs 3 ML models: IsolationForest health, XGBoost failure risk, RandomForest RUL on latest engine cycle.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46531" y="5648297"/>
            <a:ext cx="5139841" cy="2819922"/>
            <a:chOff x="0" y="0"/>
            <a:chExt cx="1052050" cy="5771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2745315" y="618174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2721377" y="6140710"/>
            <a:ext cx="1011607" cy="1011607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986498" y="5907199"/>
            <a:ext cx="2063297" cy="4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3"/>
              </a:lnSpc>
              <a:spcBef>
                <a:spcPct val="0"/>
              </a:spcBef>
            </a:pPr>
            <a:r>
              <a:rPr lang="en-US" b="true" sz="2238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Output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038656" y="6454751"/>
            <a:ext cx="3038196" cy="167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Frontend displays Health Score, Failure Risk, RUL, Readiness Status, and maintenance priority in real time.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863617" y="6402999"/>
            <a:ext cx="438152" cy="409863"/>
          </a:xfrm>
          <a:custGeom>
            <a:avLst/>
            <a:gdLst/>
            <a:ahLst/>
            <a:cxnLst/>
            <a:rect r="r" b="b" t="t" l="l"/>
            <a:pathLst>
              <a:path h="409863" w="438152">
                <a:moveTo>
                  <a:pt x="0" y="0"/>
                </a:moveTo>
                <a:lnTo>
                  <a:pt x="438151" y="0"/>
                </a:lnTo>
                <a:lnTo>
                  <a:pt x="438151" y="409863"/>
                </a:lnTo>
                <a:lnTo>
                  <a:pt x="0" y="4098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3013635" y="6444890"/>
            <a:ext cx="431487" cy="406978"/>
          </a:xfrm>
          <a:custGeom>
            <a:avLst/>
            <a:gdLst/>
            <a:ahLst/>
            <a:cxnLst/>
            <a:rect r="r" b="b" t="t" l="l"/>
            <a:pathLst>
              <a:path h="406978" w="431487">
                <a:moveTo>
                  <a:pt x="0" y="0"/>
                </a:moveTo>
                <a:lnTo>
                  <a:pt x="431486" y="0"/>
                </a:lnTo>
                <a:lnTo>
                  <a:pt x="431486" y="406978"/>
                </a:lnTo>
                <a:lnTo>
                  <a:pt x="0" y="406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481096" y="3974661"/>
            <a:ext cx="3948976" cy="129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13"/>
              </a:lnSpc>
            </a:pPr>
            <a:r>
              <a:rPr lang="en-US" b="true" sz="3723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IBM Bob</a:t>
            </a:r>
          </a:p>
          <a:p>
            <a:pPr algn="ctr" marL="0" indent="0" lvl="0">
              <a:lnSpc>
                <a:spcPts val="5213"/>
              </a:lnSpc>
            </a:pPr>
            <a:r>
              <a:rPr lang="en-US" b="true" sz="3723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Copilot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28563" y="2023242"/>
            <a:ext cx="5139841" cy="2819922"/>
            <a:chOff x="0" y="0"/>
            <a:chExt cx="1052050" cy="5771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427347" y="2556692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403409" y="2515656"/>
            <a:ext cx="1011607" cy="101160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28563" y="5443836"/>
            <a:ext cx="5139841" cy="2819922"/>
            <a:chOff x="0" y="0"/>
            <a:chExt cx="1052050" cy="5771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427347" y="597728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2403409" y="5936250"/>
            <a:ext cx="1011607" cy="1011607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90208" y="5443836"/>
            <a:ext cx="5139841" cy="2819922"/>
            <a:chOff x="0" y="0"/>
            <a:chExt cx="1052050" cy="5771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165054" y="5936250"/>
            <a:ext cx="1011607" cy="101160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8188991" y="597728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2709979" y="2847810"/>
            <a:ext cx="429973" cy="368702"/>
          </a:xfrm>
          <a:custGeom>
            <a:avLst/>
            <a:gdLst/>
            <a:ahLst/>
            <a:cxnLst/>
            <a:rect r="r" b="b" t="t" l="l"/>
            <a:pathLst>
              <a:path h="368702" w="429973">
                <a:moveTo>
                  <a:pt x="0" y="0"/>
                </a:moveTo>
                <a:lnTo>
                  <a:pt x="429972" y="0"/>
                </a:lnTo>
                <a:lnTo>
                  <a:pt x="429972" y="368701"/>
                </a:lnTo>
                <a:lnTo>
                  <a:pt x="0" y="368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8058357" y="6243869"/>
            <a:ext cx="1219971" cy="399728"/>
          </a:xfrm>
          <a:custGeom>
            <a:avLst/>
            <a:gdLst/>
            <a:ahLst/>
            <a:cxnLst/>
            <a:rect r="r" b="b" t="t" l="l"/>
            <a:pathLst>
              <a:path h="399728" w="1219971">
                <a:moveTo>
                  <a:pt x="0" y="0"/>
                </a:moveTo>
                <a:lnTo>
                  <a:pt x="1219971" y="0"/>
                </a:lnTo>
                <a:lnTo>
                  <a:pt x="1219971" y="399729"/>
                </a:lnTo>
                <a:lnTo>
                  <a:pt x="0" y="399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733907" y="6206260"/>
            <a:ext cx="351865" cy="466819"/>
          </a:xfrm>
          <a:custGeom>
            <a:avLst/>
            <a:gdLst/>
            <a:ahLst/>
            <a:cxnLst/>
            <a:rect r="r" b="b" t="t" l="l"/>
            <a:pathLst>
              <a:path h="466819" w="351865">
                <a:moveTo>
                  <a:pt x="0" y="0"/>
                </a:moveTo>
                <a:lnTo>
                  <a:pt x="351865" y="0"/>
                </a:lnTo>
                <a:lnTo>
                  <a:pt x="351865" y="466819"/>
                </a:lnTo>
                <a:lnTo>
                  <a:pt x="0" y="466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823131" y="2548555"/>
            <a:ext cx="1274010" cy="1242160"/>
          </a:xfrm>
          <a:custGeom>
            <a:avLst/>
            <a:gdLst/>
            <a:ahLst/>
            <a:cxnLst/>
            <a:rect r="r" b="b" t="t" l="l"/>
            <a:pathLst>
              <a:path h="1242160" w="1274010">
                <a:moveTo>
                  <a:pt x="0" y="0"/>
                </a:moveTo>
                <a:lnTo>
                  <a:pt x="1274010" y="0"/>
                </a:lnTo>
                <a:lnTo>
                  <a:pt x="1274010" y="1242160"/>
                </a:lnTo>
                <a:lnTo>
                  <a:pt x="0" y="1242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7674380" y="8720213"/>
            <a:ext cx="44274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51178" y="2156780"/>
            <a:ext cx="2063297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MCP Tools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851178" y="2580818"/>
            <a:ext cx="2842460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5 operator tools via MCP: fleet readiness, asset status, asset time series, maintenance priorities, and mission readiness. Structured context handoff.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851178" y="5532569"/>
            <a:ext cx="2063297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Operator Layer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851178" y="6052052"/>
            <a:ext cx="3117225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Bob converts ML model outputs into plain-language operator decisions. It is not the predictive model — it interprets and communicates results.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15770" y="5532569"/>
            <a:ext cx="3111768" cy="3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4"/>
              </a:lnSpc>
              <a:spcBef>
                <a:spcPct val="0"/>
              </a:spcBef>
            </a:pPr>
            <a:r>
              <a:rPr lang="en-US" b="true" sz="199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 Handoff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02710" y="6006768"/>
            <a:ext cx="3227338" cy="194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58"/>
              </a:lnSpc>
              <a:spcBef>
                <a:spcPct val="0"/>
              </a:spcBef>
            </a:pPr>
            <a:r>
              <a:rPr lang="en-US" sz="18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Structured context from readiness engine is passed to Bob. Each query returns actionable guidance: go/no-go, maintenance urgency, and fleet status.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10688"/>
            <a:ext cx="442747" cy="25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56"/>
              </a:lnSpc>
              <a:spcBef>
                <a:spcPct val="0"/>
              </a:spcBef>
            </a:pPr>
            <a:r>
              <a:rPr lang="en-US" b="true" sz="146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13914" y="1853281"/>
            <a:ext cx="2575793" cy="2575793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828563" y="4418634"/>
            <a:ext cx="2146494" cy="36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READY Engines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13914" y="5290507"/>
            <a:ext cx="2575793" cy="2575793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828563" y="7855860"/>
            <a:ext cx="2146494" cy="36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NOT READY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78575" y="1853281"/>
            <a:ext cx="2575793" cy="2575793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4593224" y="4418634"/>
            <a:ext cx="2146494" cy="36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Health Normal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378575" y="5290507"/>
            <a:ext cx="2575793" cy="2575793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4593224" y="7855860"/>
            <a:ext cx="2146494" cy="36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RUL Healthy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144194" y="1853281"/>
            <a:ext cx="2575793" cy="2575793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358843" y="4418634"/>
            <a:ext cx="2146494" cy="36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Low Failure Risk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44194" y="5290507"/>
            <a:ext cx="2575793" cy="2575793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358843" y="7855860"/>
            <a:ext cx="2146494" cy="72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9"/>
              </a:lnSpc>
              <a:spcBef>
                <a:spcPct val="0"/>
              </a:spcBef>
            </a:pPr>
            <a:r>
              <a:rPr lang="en-US" b="true" sz="204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Mean Readiness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07840" y="895350"/>
            <a:ext cx="5414319" cy="82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80"/>
              </a:lnSpc>
              <a:spcBef>
                <a:spcPct val="0"/>
              </a:spcBef>
            </a:pPr>
            <a:r>
              <a:rPr lang="en-US" b="true" sz="4557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&amp; 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72362" y="1907209"/>
            <a:ext cx="5885275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100 test engines assessed: 70 READY, 10 ADVISORY, 20 NOT READY.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Mean readiness score: 73.2/100. 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High-risk alerts: ENG-034 and ENG-024 flagged for immediate action.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Maintenance priorities: 12 immediate, 10 high, 8 medium, 70 low.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72362" y="5199049"/>
            <a:ext cx="5885275" cy="377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Health distribution: 57 normal, 22 warning, 21 critical.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Failure risk: 78 low, 4 medium, 18 high. RUL classification: 44 healthy, 56 advisory.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AstraPulse delivered end-to-end readiness assessment across all 100 unseen engines with zero manual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674380" y="8720213"/>
            <a:ext cx="442747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292826" y="1028700"/>
            <a:ext cx="13648016" cy="1364801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712462" y="2659985"/>
            <a:ext cx="11541780" cy="11455217"/>
          </a:xfrm>
          <a:custGeom>
            <a:avLst/>
            <a:gdLst/>
            <a:ahLst/>
            <a:cxnLst/>
            <a:rect r="r" b="b" t="t" l="l"/>
            <a:pathLst>
              <a:path h="11455217" w="11541780">
                <a:moveTo>
                  <a:pt x="0" y="0"/>
                </a:moveTo>
                <a:lnTo>
                  <a:pt x="11541780" y="0"/>
                </a:lnTo>
                <a:lnTo>
                  <a:pt x="11541780" y="11455217"/>
                </a:lnTo>
                <a:lnTo>
                  <a:pt x="0" y="11455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340216" y="2076089"/>
            <a:ext cx="11553237" cy="1155323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49114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410448" y="6368821"/>
            <a:ext cx="1634041" cy="163404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true" flipV="false" rot="0">
            <a:off x="2059083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164756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5126089" y="6368821"/>
            <a:ext cx="1634041" cy="163404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5774724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1" y="0"/>
                </a:lnTo>
                <a:lnTo>
                  <a:pt x="336771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5271179" y="3012089"/>
            <a:ext cx="8070272" cy="874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78"/>
              </a:lnSpc>
            </a:pPr>
            <a:r>
              <a:rPr lang="en-US" b="true" sz="6095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Team KMstra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71179" y="4433263"/>
            <a:ext cx="7971702" cy="3658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2" indent="-280666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Vaibhavi Kariya</a:t>
            </a: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(ML + Integration)  </a:t>
            </a:r>
          </a:p>
          <a:p>
            <a:pPr algn="l" marL="561332" indent="-280666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Pushti Kansara (ML Health)  </a:t>
            </a:r>
          </a:p>
          <a:p>
            <a:pPr algn="l" marL="561332" indent="-280666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Disu Makadiya (ML Failure)  </a:t>
            </a:r>
          </a:p>
          <a:p>
            <a:pPr algn="l" marL="561332" indent="-280666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Rutvi Shah</a:t>
            </a:r>
          </a:p>
          <a:p>
            <a:pPr algn="l" marL="561332" indent="-280666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Shared Build: NASA C-MAPSS Pipeline · Synthetic Data · 3 ML Models · Readiness Engine · FastAPI + React · IBM Bob MCP · Automated Testing + Frontend + Data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171927" y="8801209"/>
            <a:ext cx="7889815" cy="72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7"/>
              </a:lnSpc>
              <a:spcBef>
                <a:spcPct val="0"/>
              </a:spcBef>
            </a:pPr>
            <a:r>
              <a:rPr lang="en-US" b="true" sz="206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Sensor Data → Health → Failure Risk → RUL → Readiness → Mission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DAHVQ4blDtQ</dc:identifier>
  <dcterms:modified xsi:type="dcterms:W3CDTF">2011-08-01T06:04:30Z</dcterms:modified>
  <cp:revision>1</cp:revision>
  <dc:title>Slides</dc:title>
</cp:coreProperties>
</file>